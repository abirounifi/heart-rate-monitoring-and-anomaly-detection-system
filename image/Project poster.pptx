
<file path=[Content_Types].xml><?xml version="1.0" encoding="utf-8"?>
<Types xmlns="http://schemas.openxmlformats.org/package/2006/content-types">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Lst>
  <p:sldSz cx="10058400" cy="10058400"/>
  <p:notesSz cx="10058400" cy="10058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A772"/>
  </p:clrMru>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6" d="100"/>
          <a:sy n="56" d="100"/>
        </p:scale>
        <p:origin x="-2059" y="-82"/>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000" b="1" i="0">
                <a:solidFill>
                  <a:srgbClr val="002060"/>
                </a:solidFill>
                <a:latin typeface="Calibri"/>
                <a:cs typeface="Calibri"/>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00206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002060"/>
                </a:solidFill>
                <a:latin typeface="Calibri"/>
                <a:cs typeface="Calibri"/>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00206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6345" y="1839721"/>
            <a:ext cx="3038475" cy="8890"/>
          </a:xfrm>
          <a:custGeom>
            <a:avLst/>
            <a:gdLst/>
            <a:ahLst/>
            <a:cxnLst/>
            <a:rect l="l" t="t" r="r" b="b"/>
            <a:pathLst>
              <a:path w="3038475" h="8889">
                <a:moveTo>
                  <a:pt x="3038071" y="8439"/>
                </a:moveTo>
                <a:lnTo>
                  <a:pt x="0" y="8439"/>
                </a:lnTo>
                <a:lnTo>
                  <a:pt x="0" y="0"/>
                </a:lnTo>
                <a:lnTo>
                  <a:pt x="3038071" y="0"/>
                </a:lnTo>
                <a:lnTo>
                  <a:pt x="3038071" y="8439"/>
                </a:lnTo>
                <a:close/>
              </a:path>
            </a:pathLst>
          </a:custGeom>
          <a:solidFill>
            <a:srgbClr val="CCCCCC"/>
          </a:solidFill>
        </p:spPr>
        <p:txBody>
          <a:bodyPr wrap="square" lIns="0" tIns="0" rIns="0" bIns="0" rtlCol="0"/>
          <a:lstStyle/>
          <a:p>
            <a:endParaRPr/>
          </a:p>
        </p:txBody>
      </p:sp>
      <p:sp>
        <p:nvSpPr>
          <p:cNvPr id="17" name="bg object 17"/>
          <p:cNvSpPr/>
          <p:nvPr/>
        </p:nvSpPr>
        <p:spPr>
          <a:xfrm>
            <a:off x="3881980" y="1839721"/>
            <a:ext cx="3038475" cy="8890"/>
          </a:xfrm>
          <a:custGeom>
            <a:avLst/>
            <a:gdLst/>
            <a:ahLst/>
            <a:cxnLst/>
            <a:rect l="l" t="t" r="r" b="b"/>
            <a:pathLst>
              <a:path w="3038475" h="8889">
                <a:moveTo>
                  <a:pt x="3038071" y="8439"/>
                </a:moveTo>
                <a:lnTo>
                  <a:pt x="0" y="8439"/>
                </a:lnTo>
                <a:lnTo>
                  <a:pt x="0" y="0"/>
                </a:lnTo>
                <a:lnTo>
                  <a:pt x="3038071" y="0"/>
                </a:lnTo>
                <a:lnTo>
                  <a:pt x="3038071" y="8439"/>
                </a:lnTo>
                <a:close/>
              </a:path>
            </a:pathLst>
          </a:custGeom>
          <a:solidFill>
            <a:srgbClr val="CCCCCC"/>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3329" y="46736"/>
            <a:ext cx="5274309" cy="332740"/>
          </a:xfrm>
          <a:prstGeom prst="rect">
            <a:avLst/>
          </a:prstGeom>
        </p:spPr>
        <p:txBody>
          <a:bodyPr wrap="square" lIns="0" tIns="0" rIns="0" bIns="0">
            <a:spAutoFit/>
          </a:bodyPr>
          <a:lstStyle>
            <a:lvl1pPr>
              <a:defRPr sz="2000" b="1" i="0">
                <a:solidFill>
                  <a:srgbClr val="002060"/>
                </a:solidFill>
                <a:latin typeface="Calibri"/>
                <a:cs typeface="Calibri"/>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5/7/2025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contact@intek.u-jendouba.tn" TargetMode="External"/><Relationship Id="rId13" Type="http://schemas.openxmlformats.org/officeDocument/2006/relationships/image" Target="../media/image9.jpeg"/><Relationship Id="rId18" Type="http://schemas.openxmlformats.org/officeDocument/2006/relationships/image" Target="../media/image14.jpeg"/><Relationship Id="rId3" Type="http://schemas.openxmlformats.org/officeDocument/2006/relationships/image" Target="../media/image2.png"/><Relationship Id="rId7" Type="http://schemas.openxmlformats.org/officeDocument/2006/relationships/hyperlink" Target="https://www.intek.tnu.tn/" TargetMode="External"/><Relationship Id="rId12" Type="http://schemas.openxmlformats.org/officeDocument/2006/relationships/image" Target="../media/image8.jpeg"/><Relationship Id="rId17"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7.jpeg"/><Relationship Id="rId5" Type="http://schemas.openxmlformats.org/officeDocument/2006/relationships/image" Target="../media/image4.png"/><Relationship Id="rId15" Type="http://schemas.openxmlformats.org/officeDocument/2006/relationships/image" Target="../media/image11.jpeg"/><Relationship Id="rId10" Type="http://schemas.openxmlformats.org/officeDocument/2006/relationships/image" Target="../media/image6.jpeg"/><Relationship Id="rId4" Type="http://schemas.openxmlformats.org/officeDocument/2006/relationships/image" Target="../media/image3.png"/><Relationship Id="rId9" Type="http://schemas.openxmlformats.org/officeDocument/2006/relationships/hyperlink" Target="https://www.facebook.com/AdminINTSKef" TargetMode="External"/><Relationship Id="rId1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6" name="Rectangle 175"/>
          <p:cNvSpPr/>
          <p:nvPr/>
        </p:nvSpPr>
        <p:spPr>
          <a:xfrm>
            <a:off x="0" y="0"/>
            <a:ext cx="10058400" cy="1600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dirty="0"/>
          </a:p>
        </p:txBody>
      </p:sp>
      <p:sp>
        <p:nvSpPr>
          <p:cNvPr id="178" name="Rectangle 177"/>
          <p:cNvSpPr/>
          <p:nvPr/>
        </p:nvSpPr>
        <p:spPr>
          <a:xfrm>
            <a:off x="8382000" y="0"/>
            <a:ext cx="1676400" cy="1600200"/>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dirty="0"/>
          </a:p>
        </p:txBody>
      </p:sp>
      <p:sp>
        <p:nvSpPr>
          <p:cNvPr id="177" name="Rectangle 176"/>
          <p:cNvSpPr/>
          <p:nvPr/>
        </p:nvSpPr>
        <p:spPr>
          <a:xfrm>
            <a:off x="0" y="0"/>
            <a:ext cx="1676400" cy="1600200"/>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dirty="0"/>
          </a:p>
        </p:txBody>
      </p:sp>
      <p:pic>
        <p:nvPicPr>
          <p:cNvPr id="174" name="Image 173" descr="deepseek_mermaid_20250506_0879d0.png"/>
          <p:cNvPicPr>
            <a:picLocks noChangeAspect="1"/>
          </p:cNvPicPr>
          <p:nvPr/>
        </p:nvPicPr>
        <p:blipFill>
          <a:blip r:embed="rId2" cstate="print"/>
          <a:stretch>
            <a:fillRect/>
          </a:stretch>
        </p:blipFill>
        <p:spPr>
          <a:xfrm>
            <a:off x="2590800" y="6400800"/>
            <a:ext cx="4953000" cy="3108861"/>
          </a:xfrm>
          <a:prstGeom prst="rect">
            <a:avLst/>
          </a:prstGeom>
        </p:spPr>
      </p:pic>
      <p:sp>
        <p:nvSpPr>
          <p:cNvPr id="144" name="Rectangle 143"/>
          <p:cNvSpPr/>
          <p:nvPr/>
        </p:nvSpPr>
        <p:spPr>
          <a:xfrm>
            <a:off x="152400" y="2057400"/>
            <a:ext cx="2286000" cy="48768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fr-FR" dirty="0"/>
          </a:p>
        </p:txBody>
      </p:sp>
      <p:sp>
        <p:nvSpPr>
          <p:cNvPr id="143" name="Rectangle 142"/>
          <p:cNvSpPr/>
          <p:nvPr/>
        </p:nvSpPr>
        <p:spPr>
          <a:xfrm>
            <a:off x="2590800" y="2133600"/>
            <a:ext cx="7467600" cy="3733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endParaRPr lang="fr-FR" sz="1200" b="1" dirty="0"/>
          </a:p>
        </p:txBody>
      </p:sp>
      <p:sp>
        <p:nvSpPr>
          <p:cNvPr id="8" name="object 8"/>
          <p:cNvSpPr/>
          <p:nvPr/>
        </p:nvSpPr>
        <p:spPr>
          <a:xfrm>
            <a:off x="152400" y="1676400"/>
            <a:ext cx="2286000" cy="304800"/>
          </a:xfrm>
          <a:custGeom>
            <a:avLst/>
            <a:gdLst/>
            <a:ahLst/>
            <a:cxnLst/>
            <a:rect l="l" t="t" r="r" b="b"/>
            <a:pathLst>
              <a:path w="2345055" h="148590">
                <a:moveTo>
                  <a:pt x="2344674" y="123444"/>
                </a:moveTo>
                <a:lnTo>
                  <a:pt x="2344674" y="25146"/>
                </a:lnTo>
                <a:lnTo>
                  <a:pt x="2342792" y="15430"/>
                </a:lnTo>
                <a:lnTo>
                  <a:pt x="2337625" y="7429"/>
                </a:lnTo>
                <a:lnTo>
                  <a:pt x="2329886" y="2000"/>
                </a:lnTo>
                <a:lnTo>
                  <a:pt x="2320290" y="0"/>
                </a:lnTo>
                <a:lnTo>
                  <a:pt x="24383" y="0"/>
                </a:lnTo>
                <a:lnTo>
                  <a:pt x="14787" y="2000"/>
                </a:lnTo>
                <a:lnTo>
                  <a:pt x="7048" y="7429"/>
                </a:lnTo>
                <a:lnTo>
                  <a:pt x="1881" y="15430"/>
                </a:lnTo>
                <a:lnTo>
                  <a:pt x="0" y="25146"/>
                </a:lnTo>
                <a:lnTo>
                  <a:pt x="0" y="123444"/>
                </a:lnTo>
                <a:lnTo>
                  <a:pt x="1881" y="133159"/>
                </a:lnTo>
                <a:lnTo>
                  <a:pt x="7048" y="141160"/>
                </a:lnTo>
                <a:lnTo>
                  <a:pt x="14787" y="146589"/>
                </a:lnTo>
                <a:lnTo>
                  <a:pt x="24384" y="148590"/>
                </a:lnTo>
                <a:lnTo>
                  <a:pt x="2320290" y="148590"/>
                </a:lnTo>
                <a:lnTo>
                  <a:pt x="2329886" y="146589"/>
                </a:lnTo>
                <a:lnTo>
                  <a:pt x="2337625" y="141160"/>
                </a:lnTo>
                <a:lnTo>
                  <a:pt x="2342792" y="133159"/>
                </a:lnTo>
                <a:lnTo>
                  <a:pt x="2344674" y="123444"/>
                </a:lnTo>
                <a:close/>
              </a:path>
            </a:pathLst>
          </a:custGeom>
        </p:spPr>
        <p:style>
          <a:lnRef idx="2">
            <a:schemeClr val="accent6"/>
          </a:lnRef>
          <a:fillRef idx="1">
            <a:schemeClr val="lt1"/>
          </a:fillRef>
          <a:effectRef idx="0">
            <a:schemeClr val="accent6"/>
          </a:effectRef>
          <a:fontRef idx="minor">
            <a:schemeClr val="dk1"/>
          </a:fontRef>
        </p:style>
        <p:txBody>
          <a:bodyPr wrap="square" lIns="0" tIns="0" rIns="0" bIns="0" rtlCol="0"/>
          <a:lstStyle/>
          <a:p>
            <a:endParaRPr/>
          </a:p>
        </p:txBody>
      </p:sp>
      <p:grpSp>
        <p:nvGrpSpPr>
          <p:cNvPr id="38" name="object 38"/>
          <p:cNvGrpSpPr/>
          <p:nvPr/>
        </p:nvGrpSpPr>
        <p:grpSpPr>
          <a:xfrm>
            <a:off x="3429000" y="5867400"/>
            <a:ext cx="3048000" cy="381000"/>
            <a:chOff x="5901690" y="1043177"/>
            <a:chExt cx="3860800" cy="162560"/>
          </a:xfrm>
        </p:grpSpPr>
        <p:pic>
          <p:nvPicPr>
            <p:cNvPr id="39" name="object 39"/>
            <p:cNvPicPr/>
            <p:nvPr/>
          </p:nvPicPr>
          <p:blipFill>
            <a:blip r:embed="rId3" cstate="print"/>
            <a:stretch>
              <a:fillRect/>
            </a:stretch>
          </p:blipFill>
          <p:spPr>
            <a:xfrm>
              <a:off x="6480810" y="1043177"/>
              <a:ext cx="2292858" cy="136398"/>
            </a:xfrm>
            <a:prstGeom prst="rect">
              <a:avLst/>
            </a:prstGeom>
          </p:spPr>
          <p:style>
            <a:lnRef idx="2">
              <a:schemeClr val="accent6"/>
            </a:lnRef>
            <a:fillRef idx="1">
              <a:schemeClr val="lt1"/>
            </a:fillRef>
            <a:effectRef idx="0">
              <a:schemeClr val="accent6"/>
            </a:effectRef>
            <a:fontRef idx="minor">
              <a:schemeClr val="dk1"/>
            </a:fontRef>
          </p:style>
        </p:pic>
        <p:sp>
          <p:nvSpPr>
            <p:cNvPr id="40" name="object 40"/>
            <p:cNvSpPr/>
            <p:nvPr/>
          </p:nvSpPr>
          <p:spPr>
            <a:xfrm>
              <a:off x="5901690" y="1053845"/>
              <a:ext cx="3860800" cy="151765"/>
            </a:xfrm>
            <a:custGeom>
              <a:avLst/>
              <a:gdLst/>
              <a:ahLst/>
              <a:cxnLst/>
              <a:rect l="l" t="t" r="r" b="b"/>
              <a:pathLst>
                <a:path w="3860800" h="151765">
                  <a:moveTo>
                    <a:pt x="3860291" y="126492"/>
                  </a:moveTo>
                  <a:lnTo>
                    <a:pt x="3860291" y="25145"/>
                  </a:lnTo>
                  <a:lnTo>
                    <a:pt x="3858291" y="15430"/>
                  </a:lnTo>
                  <a:lnTo>
                    <a:pt x="3852862" y="7429"/>
                  </a:lnTo>
                  <a:lnTo>
                    <a:pt x="3844861" y="2000"/>
                  </a:lnTo>
                  <a:lnTo>
                    <a:pt x="3835146" y="0"/>
                  </a:lnTo>
                  <a:lnTo>
                    <a:pt x="25145" y="0"/>
                  </a:lnTo>
                  <a:lnTo>
                    <a:pt x="15430" y="2000"/>
                  </a:lnTo>
                  <a:lnTo>
                    <a:pt x="7429" y="7429"/>
                  </a:lnTo>
                  <a:lnTo>
                    <a:pt x="2000" y="15430"/>
                  </a:lnTo>
                  <a:lnTo>
                    <a:pt x="0" y="25146"/>
                  </a:lnTo>
                  <a:lnTo>
                    <a:pt x="0" y="126492"/>
                  </a:lnTo>
                  <a:lnTo>
                    <a:pt x="2000" y="136207"/>
                  </a:lnTo>
                  <a:lnTo>
                    <a:pt x="7429" y="144208"/>
                  </a:lnTo>
                  <a:lnTo>
                    <a:pt x="15430" y="149637"/>
                  </a:lnTo>
                  <a:lnTo>
                    <a:pt x="25146" y="151638"/>
                  </a:lnTo>
                  <a:lnTo>
                    <a:pt x="3835146" y="151638"/>
                  </a:lnTo>
                  <a:lnTo>
                    <a:pt x="3844861" y="149637"/>
                  </a:lnTo>
                  <a:lnTo>
                    <a:pt x="3852862" y="144208"/>
                  </a:lnTo>
                  <a:lnTo>
                    <a:pt x="3858291" y="136207"/>
                  </a:lnTo>
                  <a:lnTo>
                    <a:pt x="3860291" y="126492"/>
                  </a:lnTo>
                  <a:close/>
                </a:path>
              </a:pathLst>
            </a:custGeom>
          </p:spPr>
          <p:style>
            <a:lnRef idx="2">
              <a:schemeClr val="accent6"/>
            </a:lnRef>
            <a:fillRef idx="1">
              <a:schemeClr val="lt1"/>
            </a:fillRef>
            <a:effectRef idx="0">
              <a:schemeClr val="accent6"/>
            </a:effectRef>
            <a:fontRef idx="minor">
              <a:schemeClr val="dk1"/>
            </a:fontRef>
          </p:style>
          <p:txBody>
            <a:bodyPr wrap="square" lIns="0" tIns="0" rIns="0" bIns="0" rtlCol="0"/>
            <a:lstStyle/>
            <a:p>
              <a:endParaRPr/>
            </a:p>
          </p:txBody>
        </p:sp>
      </p:grpSp>
      <p:sp>
        <p:nvSpPr>
          <p:cNvPr id="113" name="object 113"/>
          <p:cNvSpPr/>
          <p:nvPr/>
        </p:nvSpPr>
        <p:spPr>
          <a:xfrm>
            <a:off x="2667000" y="1752600"/>
            <a:ext cx="7162800" cy="304800"/>
          </a:xfrm>
          <a:custGeom>
            <a:avLst/>
            <a:gdLst/>
            <a:ahLst/>
            <a:cxnLst/>
            <a:rect l="l" t="t" r="r" b="b"/>
            <a:pathLst>
              <a:path w="3009900" h="148590">
                <a:moveTo>
                  <a:pt x="3009900" y="123444"/>
                </a:moveTo>
                <a:lnTo>
                  <a:pt x="3009900" y="25146"/>
                </a:lnTo>
                <a:lnTo>
                  <a:pt x="3008018" y="15430"/>
                </a:lnTo>
                <a:lnTo>
                  <a:pt x="3002851" y="7429"/>
                </a:lnTo>
                <a:lnTo>
                  <a:pt x="2995112" y="2000"/>
                </a:lnTo>
                <a:lnTo>
                  <a:pt x="2985516" y="0"/>
                </a:lnTo>
                <a:lnTo>
                  <a:pt x="24383" y="0"/>
                </a:lnTo>
                <a:lnTo>
                  <a:pt x="14787" y="2000"/>
                </a:lnTo>
                <a:lnTo>
                  <a:pt x="7048" y="7429"/>
                </a:lnTo>
                <a:lnTo>
                  <a:pt x="1881" y="15430"/>
                </a:lnTo>
                <a:lnTo>
                  <a:pt x="0" y="25146"/>
                </a:lnTo>
                <a:lnTo>
                  <a:pt x="0" y="123444"/>
                </a:lnTo>
                <a:lnTo>
                  <a:pt x="1881" y="133159"/>
                </a:lnTo>
                <a:lnTo>
                  <a:pt x="7048" y="141160"/>
                </a:lnTo>
                <a:lnTo>
                  <a:pt x="14787" y="146589"/>
                </a:lnTo>
                <a:lnTo>
                  <a:pt x="24384" y="148590"/>
                </a:lnTo>
                <a:lnTo>
                  <a:pt x="2985516" y="148590"/>
                </a:lnTo>
                <a:lnTo>
                  <a:pt x="2995112" y="146589"/>
                </a:lnTo>
                <a:lnTo>
                  <a:pt x="3002851" y="141160"/>
                </a:lnTo>
                <a:lnTo>
                  <a:pt x="3008018" y="133159"/>
                </a:lnTo>
                <a:lnTo>
                  <a:pt x="3009900" y="123444"/>
                </a:lnTo>
                <a:close/>
              </a:path>
            </a:pathLst>
          </a:custGeom>
        </p:spPr>
        <p:style>
          <a:lnRef idx="2">
            <a:schemeClr val="accent6"/>
          </a:lnRef>
          <a:fillRef idx="1">
            <a:schemeClr val="lt1"/>
          </a:fillRef>
          <a:effectRef idx="0">
            <a:schemeClr val="accent6"/>
          </a:effectRef>
          <a:fontRef idx="minor">
            <a:schemeClr val="dk1"/>
          </a:fontRef>
        </p:style>
        <p:txBody>
          <a:bodyPr wrap="square" lIns="0" tIns="0" rIns="0" bIns="0" rtlCol="0"/>
          <a:lstStyle/>
          <a:p>
            <a:pPr algn="ctr"/>
            <a:r>
              <a:rPr lang="fr-FR" sz="1600" b="1" dirty="0"/>
              <a:t>Travail réalisé</a:t>
            </a:r>
          </a:p>
        </p:txBody>
      </p:sp>
      <p:sp>
        <p:nvSpPr>
          <p:cNvPr id="119" name="object 119"/>
          <p:cNvSpPr/>
          <p:nvPr/>
        </p:nvSpPr>
        <p:spPr>
          <a:xfrm>
            <a:off x="7696200" y="5943600"/>
            <a:ext cx="2133600" cy="304800"/>
          </a:xfrm>
          <a:custGeom>
            <a:avLst/>
            <a:gdLst/>
            <a:ahLst/>
            <a:cxnLst/>
            <a:rect l="l" t="t" r="r" b="b"/>
            <a:pathLst>
              <a:path w="3860800" h="151765">
                <a:moveTo>
                  <a:pt x="3860291" y="126492"/>
                </a:moveTo>
                <a:lnTo>
                  <a:pt x="3860291" y="25145"/>
                </a:lnTo>
                <a:lnTo>
                  <a:pt x="3858291" y="15430"/>
                </a:lnTo>
                <a:lnTo>
                  <a:pt x="3852862" y="7429"/>
                </a:lnTo>
                <a:lnTo>
                  <a:pt x="3844861" y="2000"/>
                </a:lnTo>
                <a:lnTo>
                  <a:pt x="3835146" y="0"/>
                </a:lnTo>
                <a:lnTo>
                  <a:pt x="25145" y="0"/>
                </a:lnTo>
                <a:lnTo>
                  <a:pt x="15430" y="2000"/>
                </a:lnTo>
                <a:lnTo>
                  <a:pt x="7429" y="7429"/>
                </a:lnTo>
                <a:lnTo>
                  <a:pt x="2000" y="15430"/>
                </a:lnTo>
                <a:lnTo>
                  <a:pt x="0" y="25146"/>
                </a:lnTo>
                <a:lnTo>
                  <a:pt x="0" y="126492"/>
                </a:lnTo>
                <a:lnTo>
                  <a:pt x="2000" y="136207"/>
                </a:lnTo>
                <a:lnTo>
                  <a:pt x="7429" y="144208"/>
                </a:lnTo>
                <a:lnTo>
                  <a:pt x="15430" y="149637"/>
                </a:lnTo>
                <a:lnTo>
                  <a:pt x="25146" y="151638"/>
                </a:lnTo>
                <a:lnTo>
                  <a:pt x="3835146" y="151638"/>
                </a:lnTo>
                <a:lnTo>
                  <a:pt x="3844861" y="149637"/>
                </a:lnTo>
                <a:lnTo>
                  <a:pt x="3852862" y="144208"/>
                </a:lnTo>
                <a:lnTo>
                  <a:pt x="3858291" y="136207"/>
                </a:lnTo>
                <a:lnTo>
                  <a:pt x="3860291" y="126492"/>
                </a:lnTo>
                <a:close/>
              </a:path>
            </a:pathLst>
          </a:custGeom>
        </p:spPr>
        <p:style>
          <a:lnRef idx="2">
            <a:schemeClr val="accent5"/>
          </a:lnRef>
          <a:fillRef idx="1">
            <a:schemeClr val="lt1"/>
          </a:fillRef>
          <a:effectRef idx="0">
            <a:schemeClr val="accent5"/>
          </a:effectRef>
          <a:fontRef idx="minor">
            <a:schemeClr val="dk1"/>
          </a:fontRef>
        </p:style>
        <p:txBody>
          <a:bodyPr wrap="square" lIns="0" tIns="0" rIns="0" bIns="0" rtlCol="0"/>
          <a:lstStyle/>
          <a:p>
            <a:pPr algn="ctr"/>
            <a:r>
              <a:rPr lang="fr-FR" b="1" dirty="0"/>
              <a:t>Conclusion </a:t>
            </a:r>
            <a:r>
              <a:rPr lang="fr-FR" b="1" dirty="0" smtClean="0"/>
              <a:t>:</a:t>
            </a:r>
          </a:p>
        </p:txBody>
      </p:sp>
      <p:pic>
        <p:nvPicPr>
          <p:cNvPr id="122" name="Image 121"/>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8686800" y="152400"/>
            <a:ext cx="1066800" cy="653415"/>
          </a:xfrm>
          <a:prstGeom prst="rect">
            <a:avLst/>
          </a:prstGeom>
        </p:spPr>
      </p:pic>
      <p:pic>
        <p:nvPicPr>
          <p:cNvPr id="124" name="Image 123"/>
          <p:cNvPicPr>
            <a:picLocks noChangeAspect="1"/>
          </p:cNvPicPr>
          <p:nvPr/>
        </p:nvPicPr>
        <p:blipFill rotWithShape="1">
          <a:blip r:embed="rId5" cstate="print">
            <a:extLst>
              <a:ext uri="{28A0092B-C50C-407E-A947-70E740481C1C}">
                <a14:useLocalDpi xmlns:a14="http://schemas.microsoft.com/office/drawing/2010/main" xmlns="" val="0"/>
              </a:ext>
            </a:extLst>
          </a:blip>
          <a:srcRect r="14078" b="13670"/>
          <a:stretch/>
        </p:blipFill>
        <p:spPr>
          <a:xfrm>
            <a:off x="0" y="228600"/>
            <a:ext cx="1600200" cy="1100138"/>
          </a:xfrm>
          <a:prstGeom prst="rect">
            <a:avLst/>
          </a:prstGeom>
        </p:spPr>
      </p:pic>
      <p:sp>
        <p:nvSpPr>
          <p:cNvPr id="127" name="Rectangle 126"/>
          <p:cNvSpPr/>
          <p:nvPr/>
        </p:nvSpPr>
        <p:spPr>
          <a:xfrm>
            <a:off x="2362200" y="0"/>
            <a:ext cx="5105400" cy="794000"/>
          </a:xfrm>
          <a:prstGeom prst="rect">
            <a:avLst/>
          </a:prstGeom>
        </p:spPr>
        <p:txBody>
          <a:bodyPr wrap="square">
            <a:spAutoFit/>
          </a:bodyPr>
          <a:lstStyle/>
          <a:p>
            <a:pPr algn="ctr">
              <a:lnSpc>
                <a:spcPct val="107000"/>
              </a:lnSpc>
              <a:spcAft>
                <a:spcPts val="294"/>
              </a:spcAft>
            </a:pPr>
            <a:r>
              <a:rPr lang="fr-FR" sz="900" b="1" dirty="0" smtClean="0">
                <a:latin typeface="Book Antiqua" panose="02040602050305030304" pitchFamily="18" charset="0"/>
              </a:rPr>
              <a:t>Université de Jendouba</a:t>
            </a:r>
            <a:endParaRPr lang="fr-FR" sz="900" b="1" dirty="0" smtClean="0">
              <a:latin typeface="Book Antiqua" panose="02040602050305030304" pitchFamily="18" charset="0"/>
              <a:ea typeface="Calibri" panose="020F0502020204030204" pitchFamily="34" charset="0"/>
              <a:cs typeface="Times New Roman" panose="02020603050405020304" pitchFamily="18" charset="0"/>
            </a:endParaRPr>
          </a:p>
          <a:p>
            <a:pPr algn="ctr">
              <a:lnSpc>
                <a:spcPct val="107000"/>
              </a:lnSpc>
              <a:spcAft>
                <a:spcPts val="294"/>
              </a:spcAft>
            </a:pPr>
            <a:r>
              <a:rPr lang="ar-TN" sz="900" b="1" dirty="0" smtClean="0">
                <a:latin typeface="Book Antiqua" panose="02040602050305030304" pitchFamily="18" charset="0"/>
                <a:ea typeface="Calibri" panose="020F0502020204030204" pitchFamily="34" charset="0"/>
                <a:cs typeface="Times New Roman" panose="02020603050405020304" pitchFamily="18" charset="0"/>
              </a:rPr>
              <a:t>جـــامـــعـــة </a:t>
            </a:r>
            <a:r>
              <a:rPr lang="ar-TN" sz="900" b="1" dirty="0" err="1" smtClean="0">
                <a:latin typeface="Book Antiqua" panose="02040602050305030304" pitchFamily="18" charset="0"/>
                <a:ea typeface="Calibri" panose="020F0502020204030204" pitchFamily="34" charset="0"/>
                <a:cs typeface="Times New Roman" panose="02020603050405020304" pitchFamily="18" charset="0"/>
              </a:rPr>
              <a:t>جـــنـــدوبـــة</a:t>
            </a:r>
            <a:endParaRPr lang="fr-FR" sz="900" b="1" dirty="0" smtClean="0">
              <a:latin typeface="Book Antiqua" panose="02040602050305030304" pitchFamily="18" charset="0"/>
              <a:ea typeface="Calibri" panose="020F0502020204030204" pitchFamily="34" charset="0"/>
              <a:cs typeface="Times New Roman" panose="02020603050405020304" pitchFamily="18" charset="0"/>
            </a:endParaRPr>
          </a:p>
          <a:p>
            <a:pPr algn="ctr">
              <a:lnSpc>
                <a:spcPct val="107000"/>
              </a:lnSpc>
              <a:spcAft>
                <a:spcPts val="294"/>
              </a:spcAft>
            </a:pPr>
            <a:r>
              <a:rPr lang="fr-FR" sz="900" b="1" dirty="0" smtClean="0">
                <a:solidFill>
                  <a:schemeClr val="accent1"/>
                </a:solidFill>
                <a:latin typeface="Book Antiqua" panose="02040602050305030304" pitchFamily="18" charset="0"/>
                <a:ea typeface="Calibri" panose="020F0502020204030204" pitchFamily="34" charset="0"/>
                <a:cs typeface="Arial" panose="020B0604020202020204" pitchFamily="34" charset="0"/>
              </a:rPr>
              <a:t>I</a:t>
            </a:r>
            <a:r>
              <a:rPr lang="fr-FR" sz="900" b="1" dirty="0" smtClean="0">
                <a:latin typeface="Book Antiqua" panose="02040602050305030304" pitchFamily="18" charset="0"/>
                <a:ea typeface="Calibri" panose="020F0502020204030204" pitchFamily="34" charset="0"/>
                <a:cs typeface="Arial" panose="020B0604020202020204" pitchFamily="34" charset="0"/>
              </a:rPr>
              <a:t>nstitut </a:t>
            </a:r>
            <a:r>
              <a:rPr lang="fr-FR" sz="900" b="1" dirty="0" smtClean="0">
                <a:solidFill>
                  <a:schemeClr val="accent1"/>
                </a:solidFill>
                <a:latin typeface="Book Antiqua" panose="02040602050305030304" pitchFamily="18" charset="0"/>
                <a:ea typeface="Calibri" panose="020F0502020204030204" pitchFamily="34" charset="0"/>
                <a:cs typeface="Arial" panose="020B0604020202020204" pitchFamily="34" charset="0"/>
              </a:rPr>
              <a:t>N</a:t>
            </a:r>
            <a:r>
              <a:rPr lang="fr-FR" sz="900" b="1" dirty="0" smtClean="0">
                <a:latin typeface="Book Antiqua" panose="02040602050305030304" pitchFamily="18" charset="0"/>
                <a:ea typeface="Calibri" panose="020F0502020204030204" pitchFamily="34" charset="0"/>
                <a:cs typeface="Arial" panose="020B0604020202020204" pitchFamily="34" charset="0"/>
              </a:rPr>
              <a:t>ational des </a:t>
            </a:r>
            <a:r>
              <a:rPr lang="fr-FR" sz="900" b="1" dirty="0" smtClean="0">
                <a:solidFill>
                  <a:schemeClr val="accent1"/>
                </a:solidFill>
                <a:latin typeface="Book Antiqua" panose="02040602050305030304" pitchFamily="18" charset="0"/>
                <a:ea typeface="Calibri" panose="020F0502020204030204" pitchFamily="34" charset="0"/>
                <a:cs typeface="Arial" panose="020B0604020202020204" pitchFamily="34" charset="0"/>
              </a:rPr>
              <a:t>Te</a:t>
            </a:r>
            <a:r>
              <a:rPr lang="fr-FR" sz="900" b="1" dirty="0" smtClean="0">
                <a:latin typeface="Book Antiqua" panose="02040602050305030304" pitchFamily="18" charset="0"/>
                <a:ea typeface="Calibri" panose="020F0502020204030204" pitchFamily="34" charset="0"/>
                <a:cs typeface="Arial" panose="020B0604020202020204" pitchFamily="34" charset="0"/>
              </a:rPr>
              <a:t>chnologies et des Sciences du </a:t>
            </a:r>
            <a:r>
              <a:rPr lang="fr-FR" sz="900" b="1" dirty="0" smtClean="0">
                <a:solidFill>
                  <a:schemeClr val="accent1"/>
                </a:solidFill>
                <a:latin typeface="Book Antiqua" panose="02040602050305030304" pitchFamily="18" charset="0"/>
                <a:ea typeface="Calibri" panose="020F0502020204030204" pitchFamily="34" charset="0"/>
                <a:cs typeface="Arial" panose="020B0604020202020204" pitchFamily="34" charset="0"/>
              </a:rPr>
              <a:t>K</a:t>
            </a:r>
            <a:r>
              <a:rPr lang="fr-FR" sz="900" b="1" dirty="0" smtClean="0">
                <a:latin typeface="Book Antiqua" panose="02040602050305030304" pitchFamily="18" charset="0"/>
                <a:ea typeface="Calibri" panose="020F0502020204030204" pitchFamily="34" charset="0"/>
                <a:cs typeface="Arial" panose="020B0604020202020204" pitchFamily="34" charset="0"/>
              </a:rPr>
              <a:t>ef</a:t>
            </a:r>
            <a:endParaRPr lang="fr-FR" sz="900" b="1" dirty="0" smtClean="0">
              <a:latin typeface="Book Antiqua" panose="02040602050305030304" pitchFamily="18" charset="0"/>
              <a:ea typeface="Calibri" panose="020F0502020204030204" pitchFamily="34" charset="0"/>
              <a:cs typeface="Times New Roman" panose="02020603050405020304" pitchFamily="18" charset="0"/>
            </a:endParaRPr>
          </a:p>
          <a:p>
            <a:pPr algn="ctr">
              <a:lnSpc>
                <a:spcPct val="107000"/>
              </a:lnSpc>
              <a:spcAft>
                <a:spcPts val="294"/>
              </a:spcAft>
            </a:pPr>
            <a:r>
              <a:rPr lang="ar-TN" sz="900" b="1" dirty="0" smtClean="0">
                <a:latin typeface="Book Antiqua" panose="02040602050305030304" pitchFamily="18" charset="0"/>
                <a:ea typeface="Calibri" panose="020F0502020204030204" pitchFamily="34" charset="0"/>
                <a:cs typeface="Times New Roman" panose="02020603050405020304" pitchFamily="18" charset="0"/>
              </a:rPr>
              <a:t>الــمــعــهــد </a:t>
            </a:r>
            <a:r>
              <a:rPr lang="ar-TN" sz="900" b="1" dirty="0">
                <a:latin typeface="Book Antiqua" panose="02040602050305030304" pitchFamily="18" charset="0"/>
                <a:ea typeface="Calibri" panose="020F0502020204030204" pitchFamily="34" charset="0"/>
                <a:cs typeface="Times New Roman" panose="02020603050405020304" pitchFamily="18" charset="0"/>
              </a:rPr>
              <a:t>الــوطــنــي لـلــتــكــنــولــوجــيـا والــعــلــوم بالــكــاف</a:t>
            </a:r>
            <a:endParaRPr lang="fr-FR" sz="900" dirty="0">
              <a:latin typeface="Book Antiqua" panose="02040602050305030304" pitchFamily="18" charset="0"/>
              <a:ea typeface="Calibri" panose="020F0502020204030204" pitchFamily="34" charset="0"/>
              <a:cs typeface="Arial" panose="020B0604020202020204" pitchFamily="34" charset="0"/>
            </a:endParaRPr>
          </a:p>
        </p:txBody>
      </p:sp>
      <p:sp>
        <p:nvSpPr>
          <p:cNvPr id="128" name="ZoneTexte 127"/>
          <p:cNvSpPr txBox="1"/>
          <p:nvPr/>
        </p:nvSpPr>
        <p:spPr>
          <a:xfrm>
            <a:off x="1676400" y="762000"/>
            <a:ext cx="6477000" cy="677108"/>
          </a:xfrm>
          <a:prstGeom prst="rect">
            <a:avLst/>
          </a:prstGeom>
          <a:noFill/>
        </p:spPr>
        <p:txBody>
          <a:bodyPr wrap="square" rtlCol="0">
            <a:spAutoFit/>
          </a:bodyPr>
          <a:lstStyle/>
          <a:p>
            <a:pPr algn="ctr"/>
            <a:r>
              <a:rPr lang="fr-FR" sz="1000" b="1" dirty="0" smtClean="0">
                <a:solidFill>
                  <a:srgbClr val="C00000"/>
                </a:solidFill>
                <a:latin typeface="Book Antiqua" panose="02040602050305030304" pitchFamily="18" charset="0"/>
              </a:rPr>
              <a:t>Projet Semestriel 2</a:t>
            </a:r>
          </a:p>
          <a:p>
            <a:pPr algn="ctr"/>
            <a:r>
              <a:rPr lang="fr-FR" sz="1000" b="1" dirty="0" smtClean="0">
                <a:solidFill>
                  <a:srgbClr val="C00000"/>
                </a:solidFill>
                <a:latin typeface="Book Antiqua" panose="02040602050305030304" pitchFamily="18" charset="0"/>
              </a:rPr>
              <a:t>Titre du Projet :</a:t>
            </a:r>
            <a:r>
              <a:rPr lang="fr-FR" sz="1000" b="1" dirty="0" smtClean="0">
                <a:latin typeface="Book Antiqua" panose="02040602050305030304" pitchFamily="18" charset="0"/>
              </a:rPr>
              <a:t>Surveillance de la fréquence cardiaque  en temps réel et détection des anomalies</a:t>
            </a:r>
          </a:p>
          <a:p>
            <a:endParaRPr lang="fr-FR" dirty="0"/>
          </a:p>
        </p:txBody>
      </p:sp>
      <p:sp>
        <p:nvSpPr>
          <p:cNvPr id="130" name="Rectangle 129"/>
          <p:cNvSpPr/>
          <p:nvPr/>
        </p:nvSpPr>
        <p:spPr>
          <a:xfrm>
            <a:off x="2209800" y="1143000"/>
            <a:ext cx="5486400" cy="415498"/>
          </a:xfrm>
          <a:prstGeom prst="rect">
            <a:avLst/>
          </a:prstGeom>
        </p:spPr>
        <p:txBody>
          <a:bodyPr wrap="square">
            <a:spAutoFit/>
          </a:bodyPr>
          <a:lstStyle/>
          <a:p>
            <a:pPr algn="ctr"/>
            <a:r>
              <a:rPr lang="fr-FR" sz="700" b="1" dirty="0" smtClean="0">
                <a:solidFill>
                  <a:srgbClr val="C00000"/>
                </a:solidFill>
                <a:latin typeface="Book Antiqua" panose="02040602050305030304" pitchFamily="18" charset="0"/>
              </a:rPr>
              <a:t>Réalisé par : </a:t>
            </a:r>
            <a:r>
              <a:rPr lang="fr-FR" sz="700" dirty="0" err="1" smtClean="0">
                <a:latin typeface="Book Antiqua" panose="02040602050305030304" pitchFamily="18" charset="0"/>
              </a:rPr>
              <a:t>Emna</a:t>
            </a:r>
            <a:r>
              <a:rPr lang="fr-FR" sz="700" dirty="0" smtClean="0">
                <a:latin typeface="Book Antiqua" panose="02040602050305030304" pitchFamily="18" charset="0"/>
              </a:rPr>
              <a:t> LOUATI, Farah MAGHRAOUI, </a:t>
            </a:r>
            <a:r>
              <a:rPr lang="fr-FR" sz="700" dirty="0" err="1" smtClean="0">
                <a:latin typeface="Book Antiqua" panose="02040602050305030304" pitchFamily="18" charset="0"/>
              </a:rPr>
              <a:t>Abir</a:t>
            </a:r>
            <a:r>
              <a:rPr lang="fr-FR" sz="700" dirty="0" smtClean="0">
                <a:latin typeface="Book Antiqua" panose="02040602050305030304" pitchFamily="18" charset="0"/>
              </a:rPr>
              <a:t> OUNIFI, </a:t>
            </a:r>
            <a:r>
              <a:rPr lang="fr-FR" sz="700" dirty="0" err="1" smtClean="0">
                <a:latin typeface="Book Antiqua" panose="02040602050305030304" pitchFamily="18" charset="0"/>
              </a:rPr>
              <a:t>Sirine</a:t>
            </a:r>
            <a:r>
              <a:rPr lang="fr-FR" sz="700" dirty="0" smtClean="0">
                <a:latin typeface="Book Antiqua" panose="02040602050305030304" pitchFamily="18" charset="0"/>
              </a:rPr>
              <a:t>  MELKI. </a:t>
            </a:r>
          </a:p>
          <a:p>
            <a:pPr algn="ctr"/>
            <a:r>
              <a:rPr lang="fr-FR" sz="700" b="1" dirty="0" smtClean="0">
                <a:solidFill>
                  <a:srgbClr val="C00000"/>
                </a:solidFill>
                <a:latin typeface="Book Antiqua" panose="02040602050305030304" pitchFamily="18" charset="0"/>
              </a:rPr>
              <a:t>Classe : </a:t>
            </a:r>
            <a:r>
              <a:rPr lang="fr-FR" sz="700" dirty="0" smtClean="0">
                <a:latin typeface="Book Antiqua" panose="02040602050305030304" pitchFamily="18" charset="0"/>
              </a:rPr>
              <a:t>Génie Biomédical (GBM1)</a:t>
            </a:r>
          </a:p>
          <a:p>
            <a:pPr algn="ctr"/>
            <a:r>
              <a:rPr lang="fr-FR" sz="700" b="1" dirty="0" smtClean="0">
                <a:solidFill>
                  <a:srgbClr val="C00000"/>
                </a:solidFill>
                <a:latin typeface="Book Antiqua" panose="02040602050305030304" pitchFamily="18" charset="0"/>
              </a:rPr>
              <a:t>Supervisé par : </a:t>
            </a:r>
            <a:r>
              <a:rPr lang="fr-FR" sz="700" dirty="0" smtClean="0">
                <a:latin typeface="Book Antiqua" panose="02040602050305030304" pitchFamily="18" charset="0"/>
              </a:rPr>
              <a:t>Dr. </a:t>
            </a:r>
            <a:r>
              <a:rPr lang="fr-FR" sz="700" dirty="0" err="1" smtClean="0">
                <a:latin typeface="Book Antiqua" panose="02040602050305030304" pitchFamily="18" charset="0"/>
              </a:rPr>
              <a:t>Hiba</a:t>
            </a:r>
            <a:r>
              <a:rPr lang="fr-FR" sz="700" dirty="0" smtClean="0">
                <a:latin typeface="Book Antiqua" panose="02040602050305030304" pitchFamily="18" charset="0"/>
              </a:rPr>
              <a:t>  </a:t>
            </a:r>
            <a:r>
              <a:rPr lang="fr-FR" sz="700" dirty="0" err="1" smtClean="0">
                <a:latin typeface="Book Antiqua" panose="02040602050305030304" pitchFamily="18" charset="0"/>
              </a:rPr>
              <a:t>Helali</a:t>
            </a:r>
            <a:r>
              <a:rPr lang="fr-FR" sz="700" dirty="0" smtClean="0">
                <a:latin typeface="Book Antiqua" panose="02040602050305030304" pitchFamily="18" charset="0"/>
              </a:rPr>
              <a:t> </a:t>
            </a:r>
            <a:endParaRPr lang="fr-FR" sz="700" dirty="0"/>
          </a:p>
        </p:txBody>
      </p:sp>
      <p:sp>
        <p:nvSpPr>
          <p:cNvPr id="131" name="Rectangle 130"/>
          <p:cNvSpPr/>
          <p:nvPr/>
        </p:nvSpPr>
        <p:spPr>
          <a:xfrm>
            <a:off x="228600" y="2133600"/>
            <a:ext cx="2133600" cy="2800767"/>
          </a:xfrm>
          <a:prstGeom prst="rect">
            <a:avLst/>
          </a:prstGeom>
        </p:spPr>
        <p:txBody>
          <a:bodyPr wrap="square">
            <a:spAutoFit/>
          </a:bodyPr>
          <a:lstStyle/>
          <a:p>
            <a:pPr algn="just"/>
            <a:r>
              <a:rPr lang="fr-FR" sz="1100" dirty="0" smtClean="0">
                <a:latin typeface="Times New Roman" pitchFamily="18" charset="0"/>
                <a:cs typeface="Times New Roman" pitchFamily="18" charset="0"/>
              </a:rPr>
              <a:t>Les maladies cardiovasculaires, qui sont la cause principale de décès dans le monde, nécessitent des solutions innovantes pour une surveillance cardiaque fiable et accessible. Face aux limites des méthodes actuelles en termes de précision, de coût et de risque de confidentialité, ce projet propose une approche prometteuse pour surmonter ces limites. Les résultats préliminaires valident le bon fonctionnement de notre projet et montrent un potentiel significatif pour la détection précoce d'anomalies</a:t>
            </a:r>
            <a:endParaRPr lang="fr-FR" sz="1100" dirty="0">
              <a:latin typeface="Times New Roman" pitchFamily="18" charset="0"/>
              <a:cs typeface="Times New Roman" pitchFamily="18" charset="0"/>
            </a:endParaRPr>
          </a:p>
        </p:txBody>
      </p:sp>
      <p:sp>
        <p:nvSpPr>
          <p:cNvPr id="132" name="Rectangle 131"/>
          <p:cNvSpPr/>
          <p:nvPr/>
        </p:nvSpPr>
        <p:spPr>
          <a:xfrm>
            <a:off x="228600" y="1676400"/>
            <a:ext cx="2097049" cy="292388"/>
          </a:xfrm>
          <a:prstGeom prst="rect">
            <a:avLst/>
          </a:prstGeom>
        </p:spPr>
        <p:txBody>
          <a:bodyPr wrap="none">
            <a:spAutoFit/>
          </a:bodyPr>
          <a:lstStyle/>
          <a:p>
            <a:r>
              <a:rPr lang="fr-FR" sz="1300" b="1" dirty="0"/>
              <a:t>Cadre Général du Projet</a:t>
            </a:r>
            <a:endParaRPr lang="fr-FR" sz="1300" dirty="0"/>
          </a:p>
        </p:txBody>
      </p:sp>
      <p:sp>
        <p:nvSpPr>
          <p:cNvPr id="1026" name="AutoShape 2" descr="blob:https://web.whatsapp.com/1a58760a-5ea8-4ca3-aa18-da4afd7f573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41" name="Rectangle 140"/>
          <p:cNvSpPr/>
          <p:nvPr/>
        </p:nvSpPr>
        <p:spPr>
          <a:xfrm>
            <a:off x="7620000" y="6400800"/>
            <a:ext cx="2286000" cy="286232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fr-FR" sz="1200" dirty="0" smtClean="0"/>
              <a:t>Ce dispositif portable surveille en temps réel la fréquence cardiaque et la saturation en oxygène du sang grâce au capteur MAX30102 et à une carte Arduino, avec transmission des données via Bluetooth à une application mobile intuitive. Son évolution pourrait intégrer l’intelligence artificielle pour une analyse prédictive avancée et l’ajout de paramètres vitaux supplémentaires, offrant une solution abordable et polyvalente pour la surveillance médicale.</a:t>
            </a:r>
            <a:endParaRPr lang="fr-FR" sz="1200" dirty="0"/>
          </a:p>
        </p:txBody>
      </p:sp>
      <p:sp>
        <p:nvSpPr>
          <p:cNvPr id="170" name="Rectangle 169"/>
          <p:cNvSpPr/>
          <p:nvPr/>
        </p:nvSpPr>
        <p:spPr>
          <a:xfrm>
            <a:off x="4267200" y="5943600"/>
            <a:ext cx="1188146" cy="307777"/>
          </a:xfrm>
          <a:prstGeom prst="rect">
            <a:avLst/>
          </a:prstGeom>
        </p:spPr>
        <p:txBody>
          <a:bodyPr wrap="none">
            <a:spAutoFit/>
          </a:bodyPr>
          <a:lstStyle/>
          <a:p>
            <a:pPr algn="ctr"/>
            <a:r>
              <a:rPr lang="fr-FR" sz="1400" b="1" dirty="0"/>
              <a:t>Résultat clé</a:t>
            </a:r>
            <a:endParaRPr lang="fr-FR" sz="1400" dirty="0"/>
          </a:p>
        </p:txBody>
      </p:sp>
      <p:pic>
        <p:nvPicPr>
          <p:cNvPr id="171" name="Image 170" descr="WhatsApp Image 2025-05-07 at 00.42.52 (1).jpeg"/>
          <p:cNvPicPr>
            <a:picLocks noChangeAspect="1"/>
          </p:cNvPicPr>
          <p:nvPr/>
        </p:nvPicPr>
        <p:blipFill>
          <a:blip r:embed="rId6" cstate="print"/>
          <a:stretch>
            <a:fillRect/>
          </a:stretch>
        </p:blipFill>
        <p:spPr>
          <a:xfrm>
            <a:off x="6248400" y="6477000"/>
            <a:ext cx="914400" cy="1219200"/>
          </a:xfrm>
          <a:prstGeom prst="rect">
            <a:avLst/>
          </a:prstGeom>
          <a:ln>
            <a:solidFill>
              <a:schemeClr val="tx1"/>
            </a:solidFill>
          </a:ln>
        </p:spPr>
      </p:pic>
      <p:sp>
        <p:nvSpPr>
          <p:cNvPr id="173" name="Rectangle 172"/>
          <p:cNvSpPr/>
          <p:nvPr/>
        </p:nvSpPr>
        <p:spPr>
          <a:xfrm>
            <a:off x="0" y="9658290"/>
            <a:ext cx="10058400" cy="400110"/>
          </a:xfrm>
          <a:prstGeom prst="rect">
            <a:avLst/>
          </a:prstGeom>
        </p:spPr>
        <p:txBody>
          <a:bodyPr wrap="square">
            <a:spAutoFit/>
          </a:bodyPr>
          <a:lstStyle/>
          <a:p>
            <a:pPr algn="ctr"/>
            <a:r>
              <a:rPr lang="fr-FR" sz="1000" dirty="0" smtClean="0">
                <a:latin typeface="Book Antiqua" panose="02040602050305030304" pitchFamily="18" charset="0"/>
                <a:cs typeface="Times New Roman" panose="02020603050405020304" pitchFamily="18" charset="0"/>
              </a:rPr>
              <a:t>Université de Jendouba, Institut National des Technologies et des Sciences du Kef,     </a:t>
            </a:r>
            <a:r>
              <a:rPr lang="fr-FR" sz="1000" dirty="0" smtClean="0">
                <a:latin typeface="Book Antiqua" panose="02040602050305030304" pitchFamily="18" charset="0"/>
                <a:cs typeface="Times New Roman" panose="02020603050405020304" pitchFamily="18" charset="0"/>
                <a:hlinkClick r:id="rId7"/>
              </a:rPr>
              <a:t>https://www.intek.tnu.tn</a:t>
            </a:r>
            <a:r>
              <a:rPr lang="fr-FR" sz="1000" dirty="0" smtClean="0">
                <a:latin typeface="Book Antiqua" panose="02040602050305030304" pitchFamily="18" charset="0"/>
                <a:cs typeface="Times New Roman" panose="02020603050405020304" pitchFamily="18" charset="0"/>
              </a:rPr>
              <a:t>  </a:t>
            </a:r>
            <a:endParaRPr lang="fr-FR" sz="1000" dirty="0" smtClean="0">
              <a:latin typeface="Book Antiqua" panose="02040602050305030304" pitchFamily="18" charset="0"/>
              <a:ea typeface="Calibri" panose="020F0502020204030204" pitchFamily="34" charset="0"/>
              <a:cs typeface="Arial" panose="020B0604020202020204" pitchFamily="34" charset="0"/>
            </a:endParaRPr>
          </a:p>
          <a:p>
            <a:pPr algn="ctr"/>
            <a:r>
              <a:rPr lang="fr-FR" sz="1000" dirty="0" smtClean="0">
                <a:latin typeface="Book Antiqua" panose="02040602050305030304" pitchFamily="18" charset="0"/>
                <a:ea typeface="Calibri" panose="020F0502020204030204" pitchFamily="34" charset="0"/>
                <a:cs typeface="Arial" panose="020B0604020202020204" pitchFamily="34" charset="0"/>
              </a:rPr>
              <a:t>Email : </a:t>
            </a:r>
            <a:r>
              <a:rPr lang="fr-FR" sz="1000" dirty="0" smtClean="0">
                <a:latin typeface="Book Antiqua" panose="02040602050305030304" pitchFamily="18" charset="0"/>
                <a:ea typeface="Calibri" panose="020F0502020204030204" pitchFamily="34" charset="0"/>
                <a:cs typeface="Arial" panose="020B0604020202020204" pitchFamily="34" charset="0"/>
                <a:hlinkClick r:id="rId8"/>
              </a:rPr>
              <a:t>contact@intek.u-jendouba.tn</a:t>
            </a:r>
            <a:r>
              <a:rPr lang="fr-FR" sz="1000" dirty="0" smtClean="0">
                <a:latin typeface="Book Antiqua" panose="02040602050305030304" pitchFamily="18" charset="0"/>
                <a:ea typeface="Calibri" panose="020F0502020204030204" pitchFamily="34" charset="0"/>
                <a:cs typeface="Arial" panose="020B0604020202020204" pitchFamily="34" charset="0"/>
              </a:rPr>
              <a:t>  ,        </a:t>
            </a:r>
            <a:r>
              <a:rPr lang="fr-FR" sz="1000" dirty="0" smtClean="0">
                <a:latin typeface="Book Antiqua" panose="02040602050305030304" pitchFamily="18" charset="0"/>
                <a:ea typeface="Calibri" panose="020F0502020204030204" pitchFamily="34" charset="0"/>
                <a:cs typeface="Arial" panose="020B0604020202020204" pitchFamily="34" charset="0"/>
                <a:hlinkClick r:id="rId9"/>
              </a:rPr>
              <a:t>https://www.facebook.com/AdminINTSKef</a:t>
            </a:r>
            <a:r>
              <a:rPr lang="fr-FR" sz="1000" dirty="0" smtClean="0">
                <a:latin typeface="Book Antiqua" panose="02040602050305030304" pitchFamily="18" charset="0"/>
                <a:ea typeface="Calibri" panose="020F0502020204030204" pitchFamily="34" charset="0"/>
                <a:cs typeface="Arial" panose="020B0604020202020204" pitchFamily="34" charset="0"/>
              </a:rPr>
              <a:t>  Tél.: +216 78 202 644 - +216 78 202 640 Fax : +216 78 202 633</a:t>
            </a:r>
            <a:endParaRPr lang="fr-FR" sz="1000" dirty="0">
              <a:latin typeface="Book Antiqua" panose="02040602050305030304" pitchFamily="18" charset="0"/>
              <a:cs typeface="Times New Roman" panose="02020603050405020304" pitchFamily="18" charset="0"/>
            </a:endParaRPr>
          </a:p>
        </p:txBody>
      </p:sp>
      <p:sp>
        <p:nvSpPr>
          <p:cNvPr id="175" name="Rectangle 174"/>
          <p:cNvSpPr/>
          <p:nvPr/>
        </p:nvSpPr>
        <p:spPr>
          <a:xfrm>
            <a:off x="0" y="9601200"/>
            <a:ext cx="10058400" cy="457200"/>
          </a:xfrm>
          <a:prstGeom prst="rect">
            <a:avLst/>
          </a:prstGeom>
          <a:no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181" name="Rectangle 180"/>
          <p:cNvSpPr/>
          <p:nvPr/>
        </p:nvSpPr>
        <p:spPr>
          <a:xfrm>
            <a:off x="1752600" y="762000"/>
            <a:ext cx="6553200" cy="838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p:cNvSpPr/>
          <p:nvPr/>
        </p:nvSpPr>
        <p:spPr>
          <a:xfrm>
            <a:off x="2514600" y="6324600"/>
            <a:ext cx="5029200" cy="3124200"/>
          </a:xfrm>
          <a:prstGeom prst="rect">
            <a:avLst/>
          </a:prstGeom>
          <a:noFill/>
          <a:ln w="12700"/>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pic>
        <p:nvPicPr>
          <p:cNvPr id="184" name="Image 183" descr="WhatsApp Image 2025-05-07 at 01.30.13.jpeg"/>
          <p:cNvPicPr>
            <a:picLocks noChangeAspect="1"/>
          </p:cNvPicPr>
          <p:nvPr/>
        </p:nvPicPr>
        <p:blipFill>
          <a:blip r:embed="rId10" cstate="print"/>
          <a:stretch>
            <a:fillRect/>
          </a:stretch>
        </p:blipFill>
        <p:spPr>
          <a:xfrm>
            <a:off x="2819400" y="6477000"/>
            <a:ext cx="914400" cy="1219200"/>
          </a:xfrm>
          <a:prstGeom prst="rect">
            <a:avLst/>
          </a:prstGeom>
          <a:ln>
            <a:solidFill>
              <a:schemeClr val="tx1"/>
            </a:solidFill>
          </a:ln>
        </p:spPr>
      </p:pic>
      <p:pic>
        <p:nvPicPr>
          <p:cNvPr id="185" name="Image 184" descr="WhatsApp Image 2025-05-07 at 02.00.32.jpeg"/>
          <p:cNvPicPr>
            <a:picLocks noChangeAspect="1"/>
          </p:cNvPicPr>
          <p:nvPr/>
        </p:nvPicPr>
        <p:blipFill>
          <a:blip r:embed="rId11" cstate="print"/>
          <a:stretch>
            <a:fillRect/>
          </a:stretch>
        </p:blipFill>
        <p:spPr>
          <a:xfrm>
            <a:off x="304800" y="7543800"/>
            <a:ext cx="2057399" cy="1905000"/>
          </a:xfrm>
          <a:prstGeom prst="rect">
            <a:avLst/>
          </a:prstGeom>
          <a:ln w="9525">
            <a:solidFill>
              <a:schemeClr val="tx1"/>
            </a:solidFill>
          </a:ln>
        </p:spPr>
      </p:pic>
      <p:sp>
        <p:nvSpPr>
          <p:cNvPr id="186" name="object 119"/>
          <p:cNvSpPr/>
          <p:nvPr/>
        </p:nvSpPr>
        <p:spPr>
          <a:xfrm>
            <a:off x="304800" y="7086600"/>
            <a:ext cx="2133600" cy="304800"/>
          </a:xfrm>
          <a:custGeom>
            <a:avLst/>
            <a:gdLst/>
            <a:ahLst/>
            <a:cxnLst/>
            <a:rect l="l" t="t" r="r" b="b"/>
            <a:pathLst>
              <a:path w="3860800" h="151765">
                <a:moveTo>
                  <a:pt x="3860291" y="126492"/>
                </a:moveTo>
                <a:lnTo>
                  <a:pt x="3860291" y="25145"/>
                </a:lnTo>
                <a:lnTo>
                  <a:pt x="3858291" y="15430"/>
                </a:lnTo>
                <a:lnTo>
                  <a:pt x="3852862" y="7429"/>
                </a:lnTo>
                <a:lnTo>
                  <a:pt x="3844861" y="2000"/>
                </a:lnTo>
                <a:lnTo>
                  <a:pt x="3835146" y="0"/>
                </a:lnTo>
                <a:lnTo>
                  <a:pt x="25145" y="0"/>
                </a:lnTo>
                <a:lnTo>
                  <a:pt x="15430" y="2000"/>
                </a:lnTo>
                <a:lnTo>
                  <a:pt x="7429" y="7429"/>
                </a:lnTo>
                <a:lnTo>
                  <a:pt x="2000" y="15430"/>
                </a:lnTo>
                <a:lnTo>
                  <a:pt x="0" y="25146"/>
                </a:lnTo>
                <a:lnTo>
                  <a:pt x="0" y="126492"/>
                </a:lnTo>
                <a:lnTo>
                  <a:pt x="2000" y="136207"/>
                </a:lnTo>
                <a:lnTo>
                  <a:pt x="7429" y="144208"/>
                </a:lnTo>
                <a:lnTo>
                  <a:pt x="15430" y="149637"/>
                </a:lnTo>
                <a:lnTo>
                  <a:pt x="25146" y="151638"/>
                </a:lnTo>
                <a:lnTo>
                  <a:pt x="3835146" y="151638"/>
                </a:lnTo>
                <a:lnTo>
                  <a:pt x="3844861" y="149637"/>
                </a:lnTo>
                <a:lnTo>
                  <a:pt x="3852862" y="144208"/>
                </a:lnTo>
                <a:lnTo>
                  <a:pt x="3858291" y="136207"/>
                </a:lnTo>
                <a:lnTo>
                  <a:pt x="3860291" y="126492"/>
                </a:lnTo>
                <a:close/>
              </a:path>
            </a:pathLst>
          </a:custGeom>
        </p:spPr>
        <p:style>
          <a:lnRef idx="2">
            <a:schemeClr val="accent5"/>
          </a:lnRef>
          <a:fillRef idx="1">
            <a:schemeClr val="lt1"/>
          </a:fillRef>
          <a:effectRef idx="0">
            <a:schemeClr val="accent5"/>
          </a:effectRef>
          <a:fontRef idx="minor">
            <a:schemeClr val="dk1"/>
          </a:fontRef>
        </p:style>
        <p:txBody>
          <a:bodyPr wrap="square" lIns="0" tIns="0" rIns="0" bIns="0" rtlCol="0"/>
          <a:lstStyle/>
          <a:p>
            <a:pPr algn="ctr"/>
            <a:r>
              <a:rPr lang="fr-FR" sz="1600" b="1" dirty="0" smtClean="0"/>
              <a:t>Notre site web</a:t>
            </a:r>
          </a:p>
        </p:txBody>
      </p:sp>
      <p:sp>
        <p:nvSpPr>
          <p:cNvPr id="187" name="Rectangle 186"/>
          <p:cNvSpPr/>
          <p:nvPr/>
        </p:nvSpPr>
        <p:spPr>
          <a:xfrm>
            <a:off x="152400" y="7467600"/>
            <a:ext cx="2286000" cy="2057400"/>
          </a:xfrm>
          <a:prstGeom prst="rect">
            <a:avLst/>
          </a:prstGeom>
          <a:noFill/>
          <a:ln w="12700"/>
        </p:spPr>
        <p:style>
          <a:lnRef idx="1">
            <a:schemeClr val="accent6"/>
          </a:lnRef>
          <a:fillRef idx="2">
            <a:schemeClr val="accent6"/>
          </a:fillRef>
          <a:effectRef idx="1">
            <a:schemeClr val="accent6"/>
          </a:effectRef>
          <a:fontRef idx="minor">
            <a:schemeClr val="dk1"/>
          </a:fontRef>
        </p:style>
        <p:txBody>
          <a:bodyPr rtlCol="0" anchor="ctr"/>
          <a:lstStyle/>
          <a:p>
            <a:pPr algn="ctr"/>
            <a:endParaRPr lang="fr-FR"/>
          </a:p>
        </p:txBody>
      </p:sp>
      <p:sp>
        <p:nvSpPr>
          <p:cNvPr id="37" name="ZoneTexte 36"/>
          <p:cNvSpPr txBox="1"/>
          <p:nvPr/>
        </p:nvSpPr>
        <p:spPr>
          <a:xfrm>
            <a:off x="2590800" y="2209800"/>
            <a:ext cx="6870792" cy="276999"/>
          </a:xfrm>
          <a:prstGeom prst="rect">
            <a:avLst/>
          </a:prstGeom>
          <a:noFill/>
        </p:spPr>
        <p:txBody>
          <a:bodyPr wrap="none" rtlCol="0">
            <a:spAutoFit/>
          </a:bodyPr>
          <a:lstStyle/>
          <a:p>
            <a:r>
              <a:rPr lang="fr-FR" sz="1200" b="1" dirty="0" smtClean="0"/>
              <a:t>Programme principale                          programme de la surveillance de la </a:t>
            </a:r>
            <a:r>
              <a:rPr lang="fr-FR" sz="1200" b="1" dirty="0" err="1" smtClean="0"/>
              <a:t>Fc</a:t>
            </a:r>
            <a:r>
              <a:rPr lang="fr-FR" sz="1200" b="1" dirty="0" smtClean="0"/>
              <a:t> et de la SpO2   </a:t>
            </a:r>
            <a:endParaRPr lang="fr-FR" sz="1200" b="1" dirty="0"/>
          </a:p>
        </p:txBody>
      </p:sp>
      <p:pic>
        <p:nvPicPr>
          <p:cNvPr id="41" name="Image 40" descr="2.jpg"/>
          <p:cNvPicPr>
            <a:picLocks noChangeAspect="1"/>
          </p:cNvPicPr>
          <p:nvPr/>
        </p:nvPicPr>
        <p:blipFill>
          <a:blip r:embed="rId12" cstate="print"/>
          <a:stretch>
            <a:fillRect/>
          </a:stretch>
        </p:blipFill>
        <p:spPr>
          <a:xfrm>
            <a:off x="2743200" y="2514600"/>
            <a:ext cx="2209800" cy="3200400"/>
          </a:xfrm>
          <a:prstGeom prst="rect">
            <a:avLst/>
          </a:prstGeom>
          <a:ln>
            <a:solidFill>
              <a:schemeClr val="tx1"/>
            </a:solidFill>
          </a:ln>
        </p:spPr>
      </p:pic>
      <p:pic>
        <p:nvPicPr>
          <p:cNvPr id="42" name="Image 41" descr="WhatsApp Image 2025-05-07 at 14.59.19.jpeg"/>
          <p:cNvPicPr>
            <a:picLocks noChangeAspect="1"/>
          </p:cNvPicPr>
          <p:nvPr/>
        </p:nvPicPr>
        <p:blipFill>
          <a:blip r:embed="rId13" cstate="print"/>
          <a:stretch>
            <a:fillRect/>
          </a:stretch>
        </p:blipFill>
        <p:spPr>
          <a:xfrm>
            <a:off x="5181601" y="2514600"/>
            <a:ext cx="2438400" cy="3200400"/>
          </a:xfrm>
          <a:prstGeom prst="rect">
            <a:avLst/>
          </a:prstGeom>
          <a:ln>
            <a:solidFill>
              <a:schemeClr val="tx1"/>
            </a:solidFill>
          </a:ln>
        </p:spPr>
      </p:pic>
      <p:pic>
        <p:nvPicPr>
          <p:cNvPr id="43" name="Image 42" descr="b43e5bdb-afeb-4aa9-a0b6-9d4a314f5148.jpg"/>
          <p:cNvPicPr>
            <a:picLocks noChangeAspect="1"/>
          </p:cNvPicPr>
          <p:nvPr/>
        </p:nvPicPr>
        <p:blipFill>
          <a:blip r:embed="rId14" cstate="print"/>
          <a:stretch>
            <a:fillRect/>
          </a:stretch>
        </p:blipFill>
        <p:spPr>
          <a:xfrm>
            <a:off x="7772400" y="2514600"/>
            <a:ext cx="2286000" cy="3124200"/>
          </a:xfrm>
          <a:prstGeom prst="rect">
            <a:avLst/>
          </a:prstGeom>
          <a:ln>
            <a:solidFill>
              <a:schemeClr val="tx1"/>
            </a:solidFill>
          </a:ln>
        </p:spPr>
      </p:pic>
      <p:pic>
        <p:nvPicPr>
          <p:cNvPr id="48" name="Image 47" descr="download.jpg"/>
          <p:cNvPicPr>
            <a:picLocks noChangeAspect="1"/>
          </p:cNvPicPr>
          <p:nvPr/>
        </p:nvPicPr>
        <p:blipFill>
          <a:blip r:embed="rId15"/>
          <a:stretch>
            <a:fillRect/>
          </a:stretch>
        </p:blipFill>
        <p:spPr>
          <a:xfrm>
            <a:off x="228600" y="5029200"/>
            <a:ext cx="948690" cy="712470"/>
          </a:xfrm>
          <a:prstGeom prst="rect">
            <a:avLst/>
          </a:prstGeom>
          <a:ln>
            <a:solidFill>
              <a:schemeClr val="tx1"/>
            </a:solidFill>
          </a:ln>
        </p:spPr>
      </p:pic>
      <p:sp>
        <p:nvSpPr>
          <p:cNvPr id="49" name="ZoneTexte 48"/>
          <p:cNvSpPr txBox="1"/>
          <p:nvPr/>
        </p:nvSpPr>
        <p:spPr>
          <a:xfrm>
            <a:off x="0" y="5715000"/>
            <a:ext cx="1371600" cy="246221"/>
          </a:xfrm>
          <a:prstGeom prst="rect">
            <a:avLst/>
          </a:prstGeom>
          <a:noFill/>
        </p:spPr>
        <p:txBody>
          <a:bodyPr wrap="square" rtlCol="0">
            <a:spAutoFit/>
          </a:bodyPr>
          <a:lstStyle/>
          <a:p>
            <a:pPr algn="ctr"/>
            <a:r>
              <a:rPr lang="fr-FR" sz="1000" dirty="0" smtClean="0"/>
              <a:t>Carte Arduino uno</a:t>
            </a:r>
            <a:endParaRPr lang="fr-FR" sz="1000" dirty="0"/>
          </a:p>
        </p:txBody>
      </p:sp>
      <p:pic>
        <p:nvPicPr>
          <p:cNvPr id="50" name="Image 49" descr="WhatsApp Image 2025-05-07 at 15.14.40.jpeg"/>
          <p:cNvPicPr>
            <a:picLocks noChangeAspect="1"/>
          </p:cNvPicPr>
          <p:nvPr/>
        </p:nvPicPr>
        <p:blipFill>
          <a:blip r:embed="rId16" cstate="print"/>
          <a:stretch>
            <a:fillRect/>
          </a:stretch>
        </p:blipFill>
        <p:spPr>
          <a:xfrm>
            <a:off x="1371600" y="4953000"/>
            <a:ext cx="990600" cy="1600200"/>
          </a:xfrm>
          <a:prstGeom prst="rect">
            <a:avLst/>
          </a:prstGeom>
          <a:ln>
            <a:solidFill>
              <a:schemeClr val="tx1"/>
            </a:solidFill>
          </a:ln>
        </p:spPr>
      </p:pic>
      <p:sp>
        <p:nvSpPr>
          <p:cNvPr id="2" name="AutoShape 2" descr="C:\Users\user\AppData\Local\Temp\{F89A3CE4-7279-474D-A51D-3C229C2F2D01}.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028" name="AutoShape 4" descr="Résultat d’images pour max 3010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030" name="AutoShape 6" descr="Résultat d’images pour max 3010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032" name="AutoShape 8" descr="Résultat d’images pour max 3010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1034" name="Picture 10"/>
          <p:cNvPicPr>
            <a:picLocks noChangeAspect="1" noChangeArrowheads="1"/>
          </p:cNvPicPr>
          <p:nvPr/>
        </p:nvPicPr>
        <p:blipFill>
          <a:blip r:embed="rId17" cstate="print"/>
          <a:srcRect/>
          <a:stretch>
            <a:fillRect/>
          </a:stretch>
        </p:blipFill>
        <p:spPr bwMode="auto">
          <a:xfrm>
            <a:off x="8991600" y="914400"/>
            <a:ext cx="609600" cy="621421"/>
          </a:xfrm>
          <a:prstGeom prst="rect">
            <a:avLst/>
          </a:prstGeom>
          <a:noFill/>
          <a:ln w="9525">
            <a:noFill/>
            <a:miter lim="800000"/>
            <a:headEnd/>
            <a:tailEnd/>
          </a:ln>
          <a:effectLst/>
        </p:spPr>
      </p:pic>
      <p:sp>
        <p:nvSpPr>
          <p:cNvPr id="1036" name="AutoShape 12" descr="C:\Users\user\AppData\Local\Temp\{C3D6B738-876E-44E1-A8B1-18954BE277E1}.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52" name="Image 51" descr="WhatsApp Image 2025-05-07 at 15.26.09.jpeg"/>
          <p:cNvPicPr>
            <a:picLocks noChangeAspect="1"/>
          </p:cNvPicPr>
          <p:nvPr/>
        </p:nvPicPr>
        <p:blipFill>
          <a:blip r:embed="rId18" cstate="print"/>
          <a:stretch>
            <a:fillRect/>
          </a:stretch>
        </p:blipFill>
        <p:spPr>
          <a:xfrm flipV="1">
            <a:off x="381000" y="6019800"/>
            <a:ext cx="609600" cy="598259"/>
          </a:xfrm>
          <a:prstGeom prst="rect">
            <a:avLst/>
          </a:prstGeom>
          <a:ln>
            <a:solidFill>
              <a:schemeClr val="tx1"/>
            </a:solidFill>
          </a:ln>
        </p:spPr>
      </p:pic>
      <p:sp>
        <p:nvSpPr>
          <p:cNvPr id="53" name="ZoneTexte 52"/>
          <p:cNvSpPr txBox="1"/>
          <p:nvPr/>
        </p:nvSpPr>
        <p:spPr>
          <a:xfrm>
            <a:off x="304800" y="6705600"/>
            <a:ext cx="762000" cy="230832"/>
          </a:xfrm>
          <a:prstGeom prst="rect">
            <a:avLst/>
          </a:prstGeom>
          <a:noFill/>
        </p:spPr>
        <p:txBody>
          <a:bodyPr wrap="square" rtlCol="0">
            <a:spAutoFit/>
          </a:bodyPr>
          <a:lstStyle/>
          <a:p>
            <a:r>
              <a:rPr lang="fr-FR" sz="900" dirty="0" smtClean="0"/>
              <a:t>MAX30102</a:t>
            </a:r>
            <a:endParaRPr lang="fr-FR"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443</TotalTime>
  <Words>260</Words>
  <Application>Microsoft Office PowerPoint</Application>
  <PresentationFormat>Personnalisé</PresentationFormat>
  <Paragraphs>21</Paragraphs>
  <Slides>1</Slides>
  <Notes>0</Notes>
  <HiddenSlides>0</HiddenSlides>
  <MMClips>0</MMClips>
  <ScaleCrop>false</ScaleCrop>
  <HeadingPairs>
    <vt:vector size="4" baseType="variant">
      <vt:variant>
        <vt:lpstr>Thème</vt:lpstr>
      </vt:variant>
      <vt:variant>
        <vt:i4>1</vt:i4>
      </vt:variant>
      <vt:variant>
        <vt:lpstr>Titres des diapositives</vt:lpstr>
      </vt:variant>
      <vt:variant>
        <vt:i4>1</vt:i4>
      </vt:variant>
    </vt:vector>
  </HeadingPairs>
  <TitlesOfParts>
    <vt:vector size="2" baseType="lpstr">
      <vt:lpstr>Office Theme</vt:lpstr>
      <vt:lpstr>Diapositive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R25_BD2K allhands _2015 poster MOOC Yuriy 10_29_2015 FINAL.pptx</dc:title>
  <dc:creator>yg63</dc:creator>
  <cp:lastModifiedBy>user</cp:lastModifiedBy>
  <cp:revision>37</cp:revision>
  <dcterms:created xsi:type="dcterms:W3CDTF">2025-05-06T19:16:39Z</dcterms:created>
  <dcterms:modified xsi:type="dcterms:W3CDTF">2025-05-07T14:25:34Z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2015-10-29T00:00:00Z</vt:filetime>
  </property>
  <property fmtid="{D5CDD505-2E9C-101B-9397-08002B2CF9AE}" pid="3" name="Creator">
    <vt:lpwstr>PScript5.dll Version 5.2.2</vt:lpwstr>
  </property>
  <property fmtid="{D5CDD505-2E9C-101B-9397-08002B2CF9AE}" pid="4" name="LastSaved">
    <vt:filetime>2025-05-06T00:00:00Z</vt:filetime>
  </property>
  <property fmtid="{D5CDD505-2E9C-101B-9397-08002B2CF9AE}" pid="5" name="Producer">
    <vt:lpwstr>Acrobat Distiller 9.0.0 (Windows)</vt:lpwstr>
  </property>
  <property fmtid="{D5CDD505-2E9C-101B-9397-08002B2CF9AE}" pid="6" name="rgid">
    <vt:lpwstr>PB:284032056_AS:296834623918087@1447782297831</vt:lpwstr>
  </property>
</Properties>
</file>